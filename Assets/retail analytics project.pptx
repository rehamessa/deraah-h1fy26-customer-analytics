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line: I turned messy retail CSVs into a trusted warehouse and a four-page dashboard that answers four business questions.</a:t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the project as questions first, then show how each page answers one.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Medallion idea: keep raw data untouched, clean it in views where each rule is visible, then model it for reporting.</a:t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issue is in the DQ log with the decision made. A second workbook shows what each would do to the numbers if left alone.</a:t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Lines carry product and promotion; receipts carry branch, customer and date. DimDate is the marked date table.</a:t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 sales, margin, basket, regions and categories. Central is the biggest region; Oud the biggest category.</a:t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RFM segments, cohorts and tiers. Stress that Champions are small but valuable.</a:t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Lift is the promo window per day against the 28 days before, for the promoted category only. No control group, so timing matters.</a:t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LFL = open on or before 1 Jan 2025 and still open on 30 Jun 2026. 35 of 40 branches qualify. New stores flatter the total.</a:t>
            </a:r>
            <a:endParaRPr/>
          </a:p>
        </p:txBody>
      </p:sp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Twelve core measures grouped in display folders. RLS filters by region. The cards are DAX measures that return HTML and SVG.</a:t>
            </a:r>
            <a:endParaRPr/>
          </a:p>
        </p:txBody>
      </p:sp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DARK">
  <p:cSld name="TITLE_DARK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40080" y="27432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  <a:defRPr b="1" i="0" sz="28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rehamessa/deraah-h1fy26-customer-analytic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</a:rPr>
              <a:t>Sales &amp; Customer Analytics</a:t>
            </a:r>
            <a:endParaRPr sz="4400"/>
          </a:p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40080" y="27432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>
                <a:solidFill>
                  <a:schemeClr val="accent1"/>
                </a:solidFill>
              </a:rPr>
              <a:t>Deraah Retail Group | SQL Server, Power BI, DAX</a:t>
            </a:r>
            <a:endParaRPr sz="2000"/>
          </a:p>
        </p:txBody>
      </p:sp>
      <p:sp>
        <p:nvSpPr>
          <p:cNvPr id="25" name="Google Shape;25;p5"/>
          <p:cNvSpPr txBox="1"/>
          <p:nvPr/>
        </p:nvSpPr>
        <p:spPr>
          <a:xfrm>
            <a:off x="640080" y="374903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github.com/rehamessa/deraah-h1fy26-customer-analytics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7223760" y="548640"/>
            <a:ext cx="1280160" cy="1280160"/>
          </a:xfrm>
          <a:prstGeom prst="ellipse">
            <a:avLst/>
          </a:prstGeom>
          <a:solidFill>
            <a:schemeClr val="accent2">
              <a:alpha val="45098"/>
            </a:schemeClr>
          </a:solidFill>
          <a:ln cap="flat" cmpd="sng" w="12700">
            <a:solidFill>
              <a:schemeClr val="accent2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7955280" y="1371600"/>
            <a:ext cx="731520" cy="731520"/>
          </a:xfrm>
          <a:prstGeom prst="ellipse">
            <a:avLst/>
          </a:prstGeom>
          <a:solidFill>
            <a:schemeClr val="accent3">
              <a:alpha val="50196"/>
            </a:schemeClr>
          </a:solidFill>
          <a:ln cap="flat" cmpd="sng" w="12700">
            <a:solidFill>
              <a:schemeClr val="accent3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</a:rPr>
              <a:t>Four questions the business needs answered</a:t>
            </a:r>
            <a:endParaRPr sz="2800"/>
          </a:p>
        </p:txBody>
      </p:sp>
      <p:sp>
        <p:nvSpPr>
          <p:cNvPr id="34" name="Google Shape;34;p6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fmla="val 5882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417320" y="14630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 growth real?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1417320" y="18745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How much of the sales growth is left once new stores are taken out?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fmla="val 5882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4892040" y="15087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5623560" y="14630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Who drives revenue?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5623560" y="18745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Which customers bring the sales, and do new customers come back?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fmla="val 5882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685800" y="3246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1417320" y="3200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Which stores need help?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1417320" y="361188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Where are the strong and weak branches, by region, city and format?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fmla="val 5882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 txBox="1"/>
          <p:nvPr/>
        </p:nvSpPr>
        <p:spPr>
          <a:xfrm>
            <a:off x="4892040" y="3246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5623560" y="3200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Do promotions pay off?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5623560" y="361188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Do they lift sales, or just discount sales that would have happened anyway?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>
            <p:ph idx="4294967295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</a:rPr>
              <a:t>From raw files to a dashboard in four layers</a:t>
            </a:r>
            <a:endParaRPr sz="2800"/>
          </a:p>
        </p:txBody>
      </p:sp>
      <p:sp>
        <p:nvSpPr>
          <p:cNvPr id="61" name="Google Shape;61;p7"/>
          <p:cNvSpPr/>
          <p:nvPr/>
        </p:nvSpPr>
        <p:spPr>
          <a:xfrm>
            <a:off x="411480" y="1737360"/>
            <a:ext cx="1371600" cy="1005840"/>
          </a:xfrm>
          <a:prstGeom prst="roundRect">
            <a:avLst>
              <a:gd fmla="val 9091" name="adj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 txBox="1"/>
          <p:nvPr/>
        </p:nvSpPr>
        <p:spPr>
          <a:xfrm>
            <a:off x="411480" y="173736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CSV files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7"/>
          <p:cNvCxnSpPr/>
          <p:nvPr/>
        </p:nvCxnSpPr>
        <p:spPr>
          <a:xfrm>
            <a:off x="1801368" y="2240280"/>
            <a:ext cx="256032" cy="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7"/>
          <p:cNvSpPr/>
          <p:nvPr/>
        </p:nvSpPr>
        <p:spPr>
          <a:xfrm>
            <a:off x="2075688" y="1737360"/>
            <a:ext cx="1371600" cy="1005840"/>
          </a:xfrm>
          <a:prstGeom prst="roundRect">
            <a:avLst>
              <a:gd fmla="val 9091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2075688" y="173736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2029968" y="29260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Bronze: loaded as-is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7"/>
          <p:cNvCxnSpPr/>
          <p:nvPr/>
        </p:nvCxnSpPr>
        <p:spPr>
          <a:xfrm>
            <a:off x="3465576" y="2240280"/>
            <a:ext cx="256032" cy="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7"/>
          <p:cNvSpPr/>
          <p:nvPr/>
        </p:nvSpPr>
        <p:spPr>
          <a:xfrm>
            <a:off x="3739896" y="1737360"/>
            <a:ext cx="1371600" cy="1005840"/>
          </a:xfrm>
          <a:prstGeom prst="roundRect">
            <a:avLst>
              <a:gd fmla="val 9091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3739896" y="173736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slv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3694176" y="29260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Silver: clean views, one rule per fix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7"/>
          <p:cNvCxnSpPr/>
          <p:nvPr/>
        </p:nvCxnSpPr>
        <p:spPr>
          <a:xfrm>
            <a:off x="5129784" y="2240280"/>
            <a:ext cx="256032" cy="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" name="Google Shape;72;p7"/>
          <p:cNvSpPr/>
          <p:nvPr/>
        </p:nvSpPr>
        <p:spPr>
          <a:xfrm>
            <a:off x="5404104" y="1737360"/>
            <a:ext cx="1371600" cy="1005840"/>
          </a:xfrm>
          <a:prstGeom prst="roundRect">
            <a:avLst>
              <a:gd fmla="val 9091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5404104" y="173736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5358384" y="29260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Gold: star schema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7"/>
          <p:cNvCxnSpPr/>
          <p:nvPr/>
        </p:nvCxnSpPr>
        <p:spPr>
          <a:xfrm>
            <a:off x="6793992" y="2240280"/>
            <a:ext cx="256032" cy="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7"/>
          <p:cNvSpPr/>
          <p:nvPr/>
        </p:nvSpPr>
        <p:spPr>
          <a:xfrm>
            <a:off x="7068312" y="1737360"/>
            <a:ext cx="1371600" cy="1005840"/>
          </a:xfrm>
          <a:prstGeom prst="roundRect">
            <a:avLst>
              <a:gd fmla="val 9091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7068312" y="173736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7022592" y="29260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 pages, 12 measures, RLS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fmla="val 11111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it matters: every number on the dashboard can be traced back to a raw row, and any cleaning rule can be changed in one place.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 txBox="1"/>
          <p:nvPr>
            <p:ph idx="4294967295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</a:rPr>
              <a:t>11 data quality issues found, logged and fixed</a:t>
            </a:r>
            <a:endParaRPr sz="2800"/>
          </a:p>
        </p:txBody>
      </p:sp>
      <p:sp>
        <p:nvSpPr>
          <p:cNvPr id="88" name="Google Shape;88;p8"/>
          <p:cNvSpPr/>
          <p:nvPr/>
        </p:nvSpPr>
        <p:spPr>
          <a:xfrm>
            <a:off x="457200" y="1188720"/>
            <a:ext cx="5394960" cy="3474720"/>
          </a:xfrm>
          <a:prstGeom prst="roundRect">
            <a:avLst>
              <a:gd fmla="val 2632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685800" y="132588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 branch B999 and all its lines removed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Duplicate customers merged on lowercased email, earliest join date kept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Duplicate transaction IDs removed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Sales dated after the 30 Jun 2026 reporting date dropped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Orphan SKUs with no product row dropped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Mixed-sign discounts fixed with ABS()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net_amount recomputed, is_return fixed where qty &lt; 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126480" y="1188720"/>
            <a:ext cx="2560320" cy="1645920"/>
          </a:xfrm>
          <a:prstGeom prst="roundRect">
            <a:avLst>
              <a:gd fmla="val 5556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 txBox="1"/>
          <p:nvPr/>
        </p:nvSpPr>
        <p:spPr>
          <a:xfrm>
            <a:off x="6126480" y="12801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6309360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issues logged, each with a decision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126480" y="3017520"/>
            <a:ext cx="2560320" cy="1645920"/>
          </a:xfrm>
          <a:prstGeom prst="roundRect">
            <a:avLst>
              <a:gd fmla="val 5556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6309360" y="315468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Impact analysis shows what each issue would do to sales, customers and growth if left unfixed.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 txBox="1"/>
          <p:nvPr>
            <p:ph idx="4294967295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</a:rPr>
              <a:t>A star schema built for reporting</a:t>
            </a:r>
            <a:endParaRPr sz="2800"/>
          </a:p>
        </p:txBody>
      </p:sp>
      <p:cxnSp>
        <p:nvCxnSpPr>
          <p:cNvPr id="102" name="Google Shape;102;p9"/>
          <p:cNvCxnSpPr/>
          <p:nvPr/>
        </p:nvCxnSpPr>
        <p:spPr>
          <a:xfrm>
            <a:off x="2834640" y="1737360"/>
            <a:ext cx="1737360" cy="27432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9"/>
          <p:cNvCxnSpPr/>
          <p:nvPr/>
        </p:nvCxnSpPr>
        <p:spPr>
          <a:xfrm flipH="1">
            <a:off x="4572000" y="1737360"/>
            <a:ext cx="1737360" cy="27432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9"/>
          <p:cNvCxnSpPr/>
          <p:nvPr/>
        </p:nvCxnSpPr>
        <p:spPr>
          <a:xfrm>
            <a:off x="4572000" y="2651760"/>
            <a:ext cx="0" cy="27432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9"/>
          <p:cNvCxnSpPr/>
          <p:nvPr/>
        </p:nvCxnSpPr>
        <p:spPr>
          <a:xfrm flipH="1">
            <a:off x="2011680" y="3566160"/>
            <a:ext cx="2560320" cy="32004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9"/>
          <p:cNvCxnSpPr/>
          <p:nvPr/>
        </p:nvCxnSpPr>
        <p:spPr>
          <a:xfrm>
            <a:off x="4572000" y="3566160"/>
            <a:ext cx="0" cy="32004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9"/>
          <p:cNvCxnSpPr/>
          <p:nvPr/>
        </p:nvCxnSpPr>
        <p:spPr>
          <a:xfrm>
            <a:off x="4572000" y="3566160"/>
            <a:ext cx="2560320" cy="32004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9"/>
          <p:cNvSpPr/>
          <p:nvPr/>
        </p:nvSpPr>
        <p:spPr>
          <a:xfrm>
            <a:off x="1828800" y="1143000"/>
            <a:ext cx="2011680" cy="548640"/>
          </a:xfrm>
          <a:prstGeom prst="roundRect">
            <a:avLst>
              <a:gd fmla="val 13333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 txBox="1"/>
          <p:nvPr/>
        </p:nvSpPr>
        <p:spPr>
          <a:xfrm>
            <a:off x="1828800" y="11430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dim_products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5303520" y="1143000"/>
            <a:ext cx="2011680" cy="548640"/>
          </a:xfrm>
          <a:prstGeom prst="roundRect">
            <a:avLst>
              <a:gd fmla="val 13333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 txBox="1"/>
          <p:nvPr/>
        </p:nvSpPr>
        <p:spPr>
          <a:xfrm>
            <a:off x="5303520" y="11430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Dim_promotions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3291840" y="2011680"/>
            <a:ext cx="2560320" cy="640080"/>
          </a:xfrm>
          <a:prstGeom prst="roundRect">
            <a:avLst>
              <a:gd fmla="val 11429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3291840" y="20116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Fact_transaction_lines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3291840" y="2926080"/>
            <a:ext cx="2560320" cy="640080"/>
          </a:xfrm>
          <a:prstGeom prst="roundRect">
            <a:avLst>
              <a:gd fmla="val 11429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 txBox="1"/>
          <p:nvPr/>
        </p:nvSpPr>
        <p:spPr>
          <a:xfrm>
            <a:off x="3291840" y="29260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Fact_transactions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005840" y="3886200"/>
            <a:ext cx="2011680" cy="548640"/>
          </a:xfrm>
          <a:prstGeom prst="roundRect">
            <a:avLst>
              <a:gd fmla="val 13333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 txBox="1"/>
          <p:nvPr/>
        </p:nvSpPr>
        <p:spPr>
          <a:xfrm>
            <a:off x="1005840" y="38862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Dim_branches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3566160" y="3886200"/>
            <a:ext cx="2011680" cy="548640"/>
          </a:xfrm>
          <a:prstGeom prst="roundRect">
            <a:avLst>
              <a:gd fmla="val 13333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 txBox="1"/>
          <p:nvPr/>
        </p:nvSpPr>
        <p:spPr>
          <a:xfrm>
            <a:off x="3566160" y="38862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Dim_customers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126480" y="3886200"/>
            <a:ext cx="2011680" cy="548640"/>
          </a:xfrm>
          <a:prstGeom prst="roundRect">
            <a:avLst>
              <a:gd fmla="val 13333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 txBox="1"/>
          <p:nvPr/>
        </p:nvSpPr>
        <p:spPr>
          <a:xfrm>
            <a:off x="6126480" y="38862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DimDate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Plus RFM, CohortOffset and a measures table. DimDate is marked as the date 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 txBox="1"/>
          <p:nvPr>
            <p:ph idx="4294967295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</a:rPr>
              <a:t>Executive: the big picture</a:t>
            </a:r>
            <a:endParaRPr sz="2800"/>
          </a:p>
        </p:txBody>
      </p:sp>
      <p:pic>
        <p:nvPicPr>
          <p:cNvPr descr="Executive: the big picture dashboard page"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68680"/>
            <a:ext cx="6303893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 txBox="1"/>
          <p:nvPr/>
        </p:nvSpPr>
        <p:spPr>
          <a:xfrm>
            <a:off x="6898253" y="868680"/>
            <a:ext cx="1879987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14.4M SAR net sales, up 11.6% on last year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Gross margin 62.7%, average basket 518 SAR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 leads regions at 5.0M; Oud leads categories at 4.9M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 txBox="1"/>
          <p:nvPr>
            <p:ph idx="4294967295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</a:rPr>
              <a:t>Customers: who carries the business</a:t>
            </a:r>
            <a:endParaRPr sz="2800"/>
          </a:p>
        </p:txBody>
      </p:sp>
      <p:pic>
        <p:nvPicPr>
          <p:cNvPr descr="Customers: who carries the business dashboard page" id="139" name="Google Shape;1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68680"/>
            <a:ext cx="5764323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 txBox="1"/>
          <p:nvPr/>
        </p:nvSpPr>
        <p:spPr>
          <a:xfrm>
            <a:off x="6358683" y="868680"/>
            <a:ext cx="2419557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Champions are 12% of customers but 28% of sales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76.4% of buyers came back for more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Early cohorts: about a quarter still buying after 6 months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 txBox="1"/>
          <p:nvPr>
            <p:ph idx="4294967295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</a:rPr>
              <a:t>Promotions: did each one pay off?</a:t>
            </a:r>
            <a:endParaRPr sz="2800"/>
          </a:p>
        </p:txBody>
      </p:sp>
      <p:pic>
        <p:nvPicPr>
          <p:cNvPr descr="Promotions: did each one pay off? dashboard page" id="148" name="Google Shape;1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68680"/>
            <a:ext cx="5397504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 txBox="1"/>
          <p:nvPr/>
        </p:nvSpPr>
        <p:spPr>
          <a:xfrm>
            <a:off x="5991864" y="868680"/>
            <a:ext cx="2786376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 promotions: 12.1% of sales, 1.14M SAR given in discounts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Oud 2026: +153% vs +34% for other categories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Ramadan started about 11 days earlier, so part of the lift is timing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 txBox="1"/>
          <p:nvPr>
            <p:ph idx="4294967295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</a:rPr>
              <a:t>Headline growth is not the same as real growth</a:t>
            </a:r>
            <a:endParaRPr sz="2800"/>
          </a:p>
        </p:txBody>
      </p:sp>
      <p:sp>
        <p:nvSpPr>
          <p:cNvPr id="157" name="Google Shape;157;p13"/>
          <p:cNvSpPr/>
          <p:nvPr/>
        </p:nvSpPr>
        <p:spPr>
          <a:xfrm>
            <a:off x="457200" y="1280160"/>
            <a:ext cx="4023360" cy="2011680"/>
          </a:xfrm>
          <a:prstGeom prst="roundRect">
            <a:avLst>
              <a:gd fmla="val 4545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4663440" y="1280160"/>
            <a:ext cx="4023360" cy="2011680"/>
          </a:xfrm>
          <a:prstGeom prst="roundRect">
            <a:avLst>
              <a:gd fmla="val 4545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HEADLINE GROWTH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457200" y="1783080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+11.6%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457200" y="274320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all stores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COMPARABLE-STORE GROWTH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4663440" y="1783080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+5.9%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4663440" y="274320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35 of 40 branches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About half of the headline growth comes from new stores. 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branch counts as comparable only if it opened on or before 1 Jan 2025 and was still open on 30 Jun 2026.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 txBox="1"/>
          <p:nvPr>
            <p:ph idx="4294967295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type="title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</a:rPr>
              <a:t>Measures, drill-down and security</a:t>
            </a:r>
            <a:endParaRPr sz="2800"/>
          </a:p>
        </p:txBody>
      </p:sp>
      <p:sp>
        <p:nvSpPr>
          <p:cNvPr id="173" name="Google Shape;173;p14"/>
          <p:cNvSpPr/>
          <p:nvPr/>
        </p:nvSpPr>
        <p:spPr>
          <a:xfrm>
            <a:off x="457200" y="1188720"/>
            <a:ext cx="4846320" cy="3474720"/>
          </a:xfrm>
          <a:prstGeom prst="roundRect">
            <a:avLst>
              <a:gd fmla="val 2632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"/>
          <p:cNvSpPr/>
          <p:nvPr/>
        </p:nvSpPr>
        <p:spPr>
          <a:xfrm>
            <a:off x="5486400" y="1188720"/>
            <a:ext cx="3200400" cy="3474720"/>
          </a:xfrm>
          <a:prstGeom prst="roundRect">
            <a:avLst>
              <a:gd fmla="val 285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685800" y="13258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12 core DAX measures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685800" y="1828800"/>
            <a:ext cx="2194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 Sales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 Sales 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YoY 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Average Basket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Gross Margin 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3063240" y="1828800"/>
            <a:ext cx="2194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Active Customers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Repeat Rate 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LFL Net Sales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LFL Growth 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 Rate 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5669280" y="13258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Built to be used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5669280" y="1828800"/>
            <a:ext cx="28346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Row-level security: a Region Manager sees only their region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 HTML and SVG cards in a dusk theme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 txBox="1"/>
          <p:nvPr>
            <p:ph idx="4294967295" type="sldNum"/>
          </p:nvPr>
        </p:nvSpPr>
        <p:spPr>
          <a:xfrm>
            <a:off x="832104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raah Dusk">
  <a:themeElements>
    <a:clrScheme name="Deraah Dusk">
      <a:dk1>
        <a:srgbClr val="141A33"/>
      </a:dk1>
      <a:lt1>
        <a:srgbClr val="FFFFFF"/>
      </a:lt1>
      <a:dk2>
        <a:srgbClr val="1E2547"/>
      </a:dk2>
      <a:lt2>
        <a:srgbClr val="E6E8F2"/>
      </a:lt2>
      <a:accent1>
        <a:srgbClr val="F7C874"/>
      </a:accent1>
      <a:accent2>
        <a:srgbClr val="EB958C"/>
      </a:accent2>
      <a:accent3>
        <a:srgbClr val="A98BD9"/>
      </a:accent3>
      <a:accent4>
        <a:srgbClr val="6FC3B2"/>
      </a:accent4>
      <a:accent5>
        <a:srgbClr val="E8738F"/>
      </a:accent5>
      <a:accent6>
        <a:srgbClr val="9AA3C7"/>
      </a:accent6>
      <a:hlink>
        <a:srgbClr val="F7C874"/>
      </a:hlink>
      <a:folHlink>
        <a:srgbClr val="A98BD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raah Dusk">
  <a:themeElements>
    <a:clrScheme name="Deraah Dusk">
      <a:dk1>
        <a:srgbClr val="141A33"/>
      </a:dk1>
      <a:lt1>
        <a:srgbClr val="FFFFFF"/>
      </a:lt1>
      <a:dk2>
        <a:srgbClr val="1E2547"/>
      </a:dk2>
      <a:lt2>
        <a:srgbClr val="E6E8F2"/>
      </a:lt2>
      <a:accent1>
        <a:srgbClr val="F7C874"/>
      </a:accent1>
      <a:accent2>
        <a:srgbClr val="EB958C"/>
      </a:accent2>
      <a:accent3>
        <a:srgbClr val="A98BD9"/>
      </a:accent3>
      <a:accent4>
        <a:srgbClr val="6FC3B2"/>
      </a:accent4>
      <a:accent5>
        <a:srgbClr val="E8738F"/>
      </a:accent5>
      <a:accent6>
        <a:srgbClr val="9AA3C7"/>
      </a:accent6>
      <a:hlink>
        <a:srgbClr val="F7C874"/>
      </a:hlink>
      <a:folHlink>
        <a:srgbClr val="A98BD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